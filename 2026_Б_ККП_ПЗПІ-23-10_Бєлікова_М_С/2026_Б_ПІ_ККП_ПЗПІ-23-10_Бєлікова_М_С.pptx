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7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Economica" panose="020B060402020202020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6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2934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49" y="821300"/>
            <a:ext cx="3510683" cy="184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/>
              <a:t>Програмна система автоматизації процесів управління автотранспортного підприємства</a:t>
            </a:r>
            <a:r>
              <a:rPr lang="uk" sz="2400" dirty="0"/>
              <a:t> 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880517" y="359315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ПІБ, група               Бєлікова М. С., ПЗПІ-23-10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               </a:t>
            </a:r>
            <a:r>
              <a:rPr lang="uk-UA" dirty="0"/>
              <a:t>доц. кафедри ПІ </a:t>
            </a:r>
            <a:r>
              <a:rPr lang="uk-UA" dirty="0" err="1"/>
              <a:t>Лещинська</a:t>
            </a:r>
            <a:r>
              <a:rPr lang="uk-UA" dirty="0"/>
              <a:t> І. О.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01 червня 2025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268925" y="754521"/>
            <a:ext cx="8520600" cy="3681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 algn="l">
              <a:buNone/>
            </a:pPr>
            <a:r>
              <a:rPr lang="uk" b="1" dirty="0"/>
              <a:t>Мета роботи: </a:t>
            </a:r>
            <a:br>
              <a:rPr lang="uk" dirty="0"/>
            </a:b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клієнт-серверної</a:t>
            </a:r>
            <a:r>
              <a:rPr lang="ru-RU" dirty="0"/>
              <a:t> </a:t>
            </a:r>
            <a:r>
              <a:rPr lang="en-US" dirty="0"/>
              <a:t>SaaS-</a:t>
            </a:r>
            <a:r>
              <a:rPr lang="ru-RU" dirty="0" err="1"/>
              <a:t>платформи</a:t>
            </a:r>
            <a:r>
              <a:rPr lang="ru-RU" dirty="0"/>
              <a:t> для </a:t>
            </a:r>
            <a:r>
              <a:rPr lang="ru-RU" dirty="0" err="1"/>
              <a:t>комплексної</a:t>
            </a:r>
            <a:r>
              <a:rPr lang="ru-RU" dirty="0"/>
              <a:t> </a:t>
            </a:r>
            <a:r>
              <a:rPr lang="ru-RU" dirty="0" err="1"/>
              <a:t>автоматизації</a:t>
            </a:r>
            <a:r>
              <a:rPr lang="ru-RU" dirty="0"/>
              <a:t> </a:t>
            </a:r>
            <a:r>
              <a:rPr lang="ru-RU" dirty="0" err="1"/>
              <a:t>бізнес-процесів</a:t>
            </a:r>
            <a:r>
              <a:rPr lang="ru-RU" dirty="0"/>
              <a:t> АТП,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розкладом</a:t>
            </a:r>
            <a:r>
              <a:rPr lang="ru-RU" dirty="0"/>
              <a:t> та </a:t>
            </a:r>
            <a:r>
              <a:rPr lang="ru-RU" dirty="0" err="1"/>
              <a:t>впровадження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en-US" dirty="0"/>
              <a:t>Live-</a:t>
            </a:r>
            <a:r>
              <a:rPr lang="ru-RU" dirty="0" err="1"/>
              <a:t>трекінгу</a:t>
            </a:r>
            <a:r>
              <a:rPr lang="ru-RU" dirty="0"/>
              <a:t> </a:t>
            </a:r>
            <a:r>
              <a:rPr lang="ru-RU" dirty="0" err="1"/>
              <a:t>рейсів</a:t>
            </a:r>
            <a:r>
              <a:rPr lang="ru-RU" dirty="0"/>
              <a:t> без </a:t>
            </a:r>
            <a:r>
              <a:rPr lang="ru-RU" dirty="0" err="1"/>
              <a:t>використання</a:t>
            </a:r>
            <a:r>
              <a:rPr lang="ru-RU" dirty="0"/>
              <a:t> дорогих </a:t>
            </a:r>
            <a:r>
              <a:rPr lang="ru-RU" dirty="0" err="1"/>
              <a:t>апаратних</a:t>
            </a:r>
            <a:r>
              <a:rPr lang="ru-RU" dirty="0"/>
              <a:t> </a:t>
            </a:r>
            <a:r>
              <a:rPr lang="en-US" dirty="0"/>
              <a:t>GPS-</a:t>
            </a:r>
            <a:r>
              <a:rPr lang="ru-RU" dirty="0" err="1"/>
              <a:t>трекерів</a:t>
            </a:r>
            <a:r>
              <a:rPr lang="ru-RU" dirty="0"/>
              <a:t>.</a:t>
            </a:r>
          </a:p>
          <a:p>
            <a:pPr marL="114300" indent="0" algn="l">
              <a:buNone/>
            </a:pP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 algn="l">
              <a:buNone/>
            </a:pP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Актуальність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роботи</a:t>
            </a:r>
            <a:endParaRPr lang="ru-RU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Зростаюча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потреба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автотранспортних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підприємств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у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відмові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паперового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документообігу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застарілого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локального ПЗ.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Високий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попит на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хмарні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SaaS-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рішення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що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не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потребують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витрат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власні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сервери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Вимоги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сучасних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пасажирів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до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прозорості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послуг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можливість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відстежувати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час </a:t>
            </a:r>
            <a:r>
              <a:rPr lang="ru-RU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прибуття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автобуса онлайн).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FFDF37E-28F9-4447-B474-76A728223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078643"/>
              </p:ext>
            </p:extLst>
          </p:nvPr>
        </p:nvGraphicFramePr>
        <p:xfrm>
          <a:off x="268925" y="611506"/>
          <a:ext cx="8757745" cy="3550357"/>
        </p:xfrm>
        <a:graphic>
          <a:graphicData uri="http://schemas.openxmlformats.org/drawingml/2006/table">
            <a:tbl>
              <a:tblPr/>
              <a:tblGrid>
                <a:gridCol w="2334396">
                  <a:extLst>
                    <a:ext uri="{9D8B030D-6E8A-4147-A177-3AD203B41FA5}">
                      <a16:colId xmlns:a16="http://schemas.microsoft.com/office/drawing/2014/main" val="336607039"/>
                    </a:ext>
                  </a:extLst>
                </a:gridCol>
                <a:gridCol w="2860342">
                  <a:extLst>
                    <a:ext uri="{9D8B030D-6E8A-4147-A177-3AD203B41FA5}">
                      <a16:colId xmlns:a16="http://schemas.microsoft.com/office/drawing/2014/main" val="4269790033"/>
                    </a:ext>
                  </a:extLst>
                </a:gridCol>
                <a:gridCol w="3563007">
                  <a:extLst>
                    <a:ext uri="{9D8B030D-6E8A-4147-A177-3AD203B41FA5}">
                      <a16:colId xmlns:a16="http://schemas.microsoft.com/office/drawing/2014/main" val="737897465"/>
                    </a:ext>
                  </a:extLst>
                </a:gridCol>
              </a:tblGrid>
              <a:tr h="162988">
                <a:tc>
                  <a:txBody>
                    <a:bodyPr/>
                    <a:lstStyle/>
                    <a:p>
                      <a:pPr algn="l" rtl="0"/>
                      <a:r>
                        <a:rPr lang="ru-RU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Назва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програмного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рішення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Переваги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Недоліки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754616"/>
                  </a:ext>
                </a:extLst>
              </a:tr>
              <a:tr h="935864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Turnit</a:t>
                      </a:r>
                      <a:b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(SaaS-</a:t>
                      </a:r>
                      <a:r>
                        <a:rPr lang="ru-RU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платформа)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Комплексне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робоче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місце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диспетчера з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гнучким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налаштуванням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маршрутів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Хмарна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архітектура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що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знімає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навантаження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з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локальних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IT-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відділів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Перевантажений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та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складний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інтерфейс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адміністративної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панелі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Висока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вартість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підписки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невигідно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для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малих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АТП).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Відсутність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спрощеного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програмного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Live-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трекінгу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204475"/>
                  </a:ext>
                </a:extLst>
              </a:tr>
              <a:tr h="715042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Busfor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/ </a:t>
                      </a: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BlaBlaCar</a:t>
                      </a:r>
                      <a:b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</a:t>
                      </a:r>
                      <a:r>
                        <a:rPr lang="ru-RU" sz="1100" i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Агрегатори</a:t>
                      </a:r>
                      <a:r>
                        <a:rPr lang="ru-RU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/ </a:t>
                      </a:r>
                      <a:r>
                        <a:rPr lang="ru-RU" sz="1100" i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маркетплейси</a:t>
                      </a:r>
                      <a:r>
                        <a:rPr lang="ru-RU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Величезна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клієнтська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база.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Зручний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B2C-інтерфейс для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пасажирів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та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швидкий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пошук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рейсів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Відсутність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B2B-інструментів для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внутрішнього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управління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автопарком і персоналом.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Висока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комісія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платформи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за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кожен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проданий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квиток.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255416"/>
                  </a:ext>
                </a:extLst>
              </a:tr>
              <a:tr h="825453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FlixBus</a:t>
                      </a:r>
                      <a:b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</a:t>
                      </a:r>
                      <a:r>
                        <a:rPr lang="ru-RU" sz="1100" i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Закрита</a:t>
                      </a:r>
                      <a:r>
                        <a:rPr lang="ru-RU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i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екосистема</a:t>
                      </a:r>
                      <a:r>
                        <a:rPr lang="ru-RU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Потужне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поєднання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продажу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квитків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та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моніторингу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автобусів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у реальному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часі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Закрите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ПЗ (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недоступне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для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оренди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іншими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перевізниками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за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моделлю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SaaS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Втрата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корпоративної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автономності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(робота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виключно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під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брендом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FlixBus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0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Wialon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/ GPSWOX</a:t>
                      </a:r>
                      <a:b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</a:t>
                      </a:r>
                      <a:r>
                        <a:rPr lang="ru-RU" sz="1100" i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Телематичні</a:t>
                      </a:r>
                      <a:r>
                        <a:rPr lang="ru-RU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i="1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платформи</a:t>
                      </a:r>
                      <a:r>
                        <a:rPr lang="ru-RU" sz="1100" i="1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Надвисока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точність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відстеження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транспорту на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карті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Глибока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аналітика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показників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витрати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пального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швидкість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Необхідність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закупівлі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встановлення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та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обслуговування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дорогих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апаратних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GPS-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трекерів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  <a:b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Відсутність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інтегрованого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модуля продажу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квитків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для </a:t>
                      </a:r>
                      <a:r>
                        <a:rPr lang="ru-RU" sz="1100" dirty="0" err="1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пасажирів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 marL="39432" marR="39432" marT="26288" marB="26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7578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45025"/>
            <a:ext cx="8520600" cy="3825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buNone/>
            </a:pPr>
            <a:r>
              <a:rPr lang="ru-RU" b="1" dirty="0" err="1"/>
              <a:t>Чітке</a:t>
            </a:r>
            <a:r>
              <a:rPr lang="ru-RU" b="1" dirty="0"/>
              <a:t> </a:t>
            </a:r>
            <a:r>
              <a:rPr lang="ru-RU" b="1" dirty="0" err="1"/>
              <a:t>формулювання</a:t>
            </a:r>
            <a:r>
              <a:rPr lang="ru-RU" b="1" dirty="0"/>
              <a:t> </a:t>
            </a:r>
            <a:r>
              <a:rPr lang="ru-RU" b="1" dirty="0" err="1"/>
              <a:t>проблеми</a:t>
            </a:r>
            <a:r>
              <a:rPr lang="ru-RU" b="1" dirty="0"/>
              <a:t>:</a:t>
            </a:r>
            <a:endParaRPr lang="ru-RU" dirty="0"/>
          </a:p>
          <a:p>
            <a:pPr marL="114300" indent="0">
              <a:buNone/>
            </a:pP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єдину</a:t>
            </a:r>
            <a:r>
              <a:rPr lang="ru-RU" dirty="0"/>
              <a:t> </a:t>
            </a:r>
            <a:r>
              <a:rPr lang="ru-RU" dirty="0" err="1"/>
              <a:t>інформаційну</a:t>
            </a:r>
            <a:r>
              <a:rPr lang="ru-RU" dirty="0"/>
              <a:t> </a:t>
            </a:r>
            <a:r>
              <a:rPr lang="ru-RU" dirty="0" err="1"/>
              <a:t>екосистему</a:t>
            </a:r>
            <a:r>
              <a:rPr lang="ru-RU" dirty="0"/>
              <a:t> з </a:t>
            </a:r>
            <a:r>
              <a:rPr lang="ru-RU" dirty="0" err="1"/>
              <a:t>ізоляцією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компаній-перевізників</a:t>
            </a:r>
            <a:r>
              <a:rPr lang="ru-RU" dirty="0"/>
              <a:t> та </a:t>
            </a:r>
            <a:r>
              <a:rPr lang="ru-RU" dirty="0" err="1"/>
              <a:t>суворим</a:t>
            </a:r>
            <a:r>
              <a:rPr lang="ru-RU" dirty="0"/>
              <a:t> </a:t>
            </a:r>
            <a:r>
              <a:rPr lang="ru-RU" dirty="0" err="1"/>
              <a:t>рольовим</a:t>
            </a:r>
            <a:r>
              <a:rPr lang="ru-RU" dirty="0"/>
              <a:t> </a:t>
            </a:r>
            <a:r>
              <a:rPr lang="ru-RU" dirty="0" err="1"/>
              <a:t>розмежуванням</a:t>
            </a:r>
            <a:r>
              <a:rPr lang="ru-RU" dirty="0"/>
              <a:t> доступу.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b="1" dirty="0" err="1"/>
              <a:t>Очікувані</a:t>
            </a:r>
            <a:r>
              <a:rPr lang="ru-RU" b="1" dirty="0"/>
              <a:t> </a:t>
            </a:r>
            <a:r>
              <a:rPr lang="ru-RU" b="1" dirty="0" err="1"/>
              <a:t>результати</a:t>
            </a:r>
            <a:r>
              <a:rPr lang="ru-RU" b="1" dirty="0"/>
              <a:t> (</a:t>
            </a:r>
            <a:r>
              <a:rPr lang="ru-RU" b="1" dirty="0" err="1"/>
              <a:t>Рольова</a:t>
            </a:r>
            <a:r>
              <a:rPr lang="ru-RU" b="1" dirty="0"/>
              <a:t> модель):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Власник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ru-RU" dirty="0"/>
              <a:t>: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підписками</a:t>
            </a:r>
            <a:r>
              <a:rPr lang="ru-RU" dirty="0"/>
              <a:t> АТП та глобальна статистика.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Адміністратор</a:t>
            </a:r>
            <a:r>
              <a:rPr lang="ru-RU" dirty="0"/>
              <a:t> АТП: </a:t>
            </a:r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маршрутної</a:t>
            </a:r>
            <a:r>
              <a:rPr lang="ru-RU" dirty="0"/>
              <a:t> </a:t>
            </a:r>
            <a:r>
              <a:rPr lang="ru-RU" dirty="0" err="1"/>
              <a:t>сітки</a:t>
            </a:r>
            <a:r>
              <a:rPr lang="ru-RU" dirty="0"/>
              <a:t>, </a:t>
            </a:r>
            <a:r>
              <a:rPr lang="ru-RU" dirty="0" err="1"/>
              <a:t>управління</a:t>
            </a:r>
            <a:r>
              <a:rPr lang="ru-RU" dirty="0"/>
              <a:t> автопарком та персоналом.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Водій</a:t>
            </a:r>
            <a:r>
              <a:rPr lang="ru-RU" dirty="0"/>
              <a:t>: </a:t>
            </a:r>
            <a:r>
              <a:rPr lang="ru-RU" dirty="0" err="1"/>
              <a:t>Мобільний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для </a:t>
            </a:r>
            <a:r>
              <a:rPr lang="ru-RU" dirty="0" err="1"/>
              <a:t>фіксації</a:t>
            </a:r>
            <a:r>
              <a:rPr lang="ru-RU" dirty="0"/>
              <a:t> </a:t>
            </a:r>
            <a:r>
              <a:rPr lang="ru-RU" dirty="0" err="1"/>
              <a:t>відміток</a:t>
            </a:r>
            <a:r>
              <a:rPr lang="ru-RU" dirty="0"/>
              <a:t> на </a:t>
            </a:r>
            <a:r>
              <a:rPr lang="ru-RU" dirty="0" err="1"/>
              <a:t>зупинках</a:t>
            </a:r>
            <a:r>
              <a:rPr lang="ru-RU" dirty="0"/>
              <a:t> у реальному </a:t>
            </a:r>
            <a:r>
              <a:rPr lang="ru-RU" dirty="0" err="1"/>
              <a:t>часі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Клієнт</a:t>
            </a:r>
            <a:r>
              <a:rPr lang="ru-RU" dirty="0"/>
              <a:t> (</a:t>
            </a:r>
            <a:r>
              <a:rPr lang="ru-RU" dirty="0" err="1"/>
              <a:t>Пасажир</a:t>
            </a:r>
            <a:r>
              <a:rPr lang="ru-RU" dirty="0"/>
              <a:t>): </a:t>
            </a:r>
            <a:r>
              <a:rPr lang="ru-RU" dirty="0" err="1"/>
              <a:t>Бронювання</a:t>
            </a:r>
            <a:r>
              <a:rPr lang="ru-RU" dirty="0"/>
              <a:t> </a:t>
            </a:r>
            <a:r>
              <a:rPr lang="ru-RU" dirty="0" err="1"/>
              <a:t>квитків</a:t>
            </a:r>
            <a:r>
              <a:rPr lang="ru-RU" dirty="0"/>
              <a:t> та перегляд </a:t>
            </a:r>
            <a:r>
              <a:rPr lang="ru-RU" dirty="0" err="1"/>
              <a:t>динамічно</a:t>
            </a:r>
            <a:r>
              <a:rPr lang="ru-RU" dirty="0"/>
              <a:t> </a:t>
            </a:r>
            <a:r>
              <a:rPr lang="ru-RU" dirty="0" err="1"/>
              <a:t>розрахованого</a:t>
            </a:r>
            <a:r>
              <a:rPr lang="ru-RU" dirty="0"/>
              <a:t> часу </a:t>
            </a:r>
            <a:r>
              <a:rPr lang="ru-RU" dirty="0" err="1"/>
              <a:t>прибуття</a:t>
            </a:r>
            <a:r>
              <a:rPr lang="ru-RU" dirty="0"/>
              <a:t> (</a:t>
            </a:r>
            <a:r>
              <a:rPr lang="en-US" dirty="0"/>
              <a:t>ETA).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682991"/>
            <a:ext cx="8520600" cy="3896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ru-RU" b="1" dirty="0" err="1"/>
              <a:t>Інструментарій</a:t>
            </a:r>
            <a:r>
              <a:rPr lang="ru-RU" b="1" dirty="0"/>
              <a:t> </a:t>
            </a:r>
            <a:r>
              <a:rPr lang="ru-RU" b="1" dirty="0" err="1"/>
              <a:t>розробки</a:t>
            </a:r>
            <a:r>
              <a:rPr lang="ru-RU" b="1" dirty="0"/>
              <a:t>:</a:t>
            </a:r>
            <a:endParaRPr lang="ru-RU" dirty="0"/>
          </a:p>
          <a:p>
            <a:pPr marL="114300" indent="0">
              <a:buNone/>
            </a:pPr>
            <a:r>
              <a:rPr lang="ru-RU" i="1" dirty="0" err="1"/>
              <a:t>Середовища</a:t>
            </a:r>
            <a:r>
              <a:rPr lang="ru-RU" i="1" dirty="0"/>
              <a:t> </a:t>
            </a:r>
            <a:r>
              <a:rPr lang="ru-RU" i="1" dirty="0" err="1"/>
              <a:t>розробки</a:t>
            </a:r>
            <a:r>
              <a:rPr lang="ru-RU" i="1" dirty="0"/>
              <a:t>:</a:t>
            </a:r>
            <a:r>
              <a:rPr lang="ru-RU" dirty="0"/>
              <a:t> </a:t>
            </a:r>
            <a:r>
              <a:rPr lang="en-US" dirty="0"/>
              <a:t>Visual Studio </a:t>
            </a:r>
            <a:r>
              <a:rPr lang="ru-RU" dirty="0"/>
              <a:t>для </a:t>
            </a:r>
            <a:r>
              <a:rPr lang="ru-RU" dirty="0" err="1"/>
              <a:t>серверної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, </a:t>
            </a:r>
            <a:r>
              <a:rPr lang="en-US" dirty="0"/>
              <a:t>Visual Studio Code </a:t>
            </a:r>
            <a:r>
              <a:rPr lang="ru-RU" dirty="0"/>
              <a:t>для </a:t>
            </a:r>
            <a:r>
              <a:rPr lang="ru-RU" dirty="0" err="1"/>
              <a:t>клієнтської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.</a:t>
            </a:r>
          </a:p>
          <a:p>
            <a:endParaRPr lang="ru-RU" b="1" dirty="0"/>
          </a:p>
          <a:p>
            <a:pPr marL="114300" indent="0">
              <a:buNone/>
            </a:pPr>
            <a:r>
              <a:rPr lang="ru-RU" b="1" dirty="0" err="1"/>
              <a:t>Технології</a:t>
            </a:r>
            <a:r>
              <a:rPr lang="ru-RU" b="1" dirty="0"/>
              <a:t> </a:t>
            </a:r>
            <a:r>
              <a:rPr lang="ru-RU" b="1" dirty="0" err="1"/>
              <a:t>бази</a:t>
            </a:r>
            <a:r>
              <a:rPr lang="ru-RU" b="1" dirty="0"/>
              <a:t> </a:t>
            </a:r>
            <a:r>
              <a:rPr lang="ru-RU" b="1" dirty="0" err="1"/>
              <a:t>даних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i="1" dirty="0"/>
              <a:t>СУБД:</a:t>
            </a:r>
            <a:r>
              <a:rPr lang="ru-RU" dirty="0"/>
              <a:t> </a:t>
            </a:r>
            <a:r>
              <a:rPr lang="en-US" dirty="0"/>
              <a:t>SQLite (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швидке</a:t>
            </a:r>
            <a:r>
              <a:rPr lang="ru-RU" dirty="0"/>
              <a:t> </a:t>
            </a:r>
            <a:r>
              <a:rPr lang="ru-RU" dirty="0" err="1"/>
              <a:t>розгортання</a:t>
            </a:r>
            <a:r>
              <a:rPr lang="ru-RU" dirty="0"/>
              <a:t> та </a:t>
            </a:r>
            <a:r>
              <a:rPr lang="ru-RU" dirty="0" err="1"/>
              <a:t>автономність</a:t>
            </a:r>
            <a:r>
              <a:rPr lang="ru-RU" dirty="0"/>
              <a:t> файлу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ORM:</a:t>
            </a:r>
            <a:r>
              <a:rPr lang="en-US" dirty="0"/>
              <a:t> Entity Framework Core (</a:t>
            </a:r>
            <a:r>
              <a:rPr lang="ru-RU" dirty="0" err="1"/>
              <a:t>підхід</a:t>
            </a:r>
            <a:r>
              <a:rPr lang="ru-RU" dirty="0"/>
              <a:t> </a:t>
            </a:r>
            <a:r>
              <a:rPr lang="en-US" dirty="0"/>
              <a:t>Code-First).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268924" y="1107964"/>
            <a:ext cx="5398779" cy="3488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ru-RU" b="1" dirty="0"/>
              <a:t>Схема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  <a:p>
            <a:pPr marL="114300" indent="0">
              <a:buNone/>
            </a:pPr>
            <a:r>
              <a:rPr lang="ru-RU" dirty="0" err="1"/>
              <a:t>Клієнт-серверна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 з </a:t>
            </a:r>
            <a:r>
              <a:rPr lang="ru-RU" dirty="0" err="1"/>
              <a:t>використанням</a:t>
            </a:r>
            <a:r>
              <a:rPr lang="ru-RU" dirty="0"/>
              <a:t> </a:t>
            </a:r>
            <a:r>
              <a:rPr lang="en-US" dirty="0"/>
              <a:t>REST API </a:t>
            </a:r>
            <a:r>
              <a:rPr lang="ru-RU" dirty="0"/>
              <a:t>та формату </a:t>
            </a:r>
            <a:r>
              <a:rPr lang="ru-RU" dirty="0" err="1"/>
              <a:t>обміну</a:t>
            </a:r>
            <a:r>
              <a:rPr lang="ru-RU" dirty="0"/>
              <a:t> </a:t>
            </a:r>
            <a:r>
              <a:rPr lang="ru-RU" dirty="0" err="1"/>
              <a:t>даними</a:t>
            </a:r>
            <a:r>
              <a:rPr lang="ru-RU" dirty="0"/>
              <a:t> </a:t>
            </a:r>
            <a:r>
              <a:rPr lang="en-US" dirty="0"/>
              <a:t>JSON.</a:t>
            </a:r>
            <a:endParaRPr lang="uk-UA" dirty="0"/>
          </a:p>
          <a:p>
            <a:pPr marL="114300" indent="0">
              <a:buNone/>
            </a:pPr>
            <a:endParaRPr lang="uk-UA" b="1" dirty="0"/>
          </a:p>
          <a:p>
            <a:pPr marL="114300" indent="0">
              <a:buNone/>
            </a:pPr>
            <a:r>
              <a:rPr lang="ru-RU" b="1" dirty="0" err="1"/>
              <a:t>Опис</a:t>
            </a:r>
            <a:r>
              <a:rPr lang="ru-RU" b="1" dirty="0"/>
              <a:t> </a:t>
            </a:r>
            <a:r>
              <a:rPr lang="ru-RU" b="1" dirty="0" err="1"/>
              <a:t>ключових</a:t>
            </a:r>
            <a:r>
              <a:rPr lang="ru-RU" b="1" dirty="0"/>
              <a:t> </a:t>
            </a:r>
            <a:r>
              <a:rPr lang="ru-RU" b="1" dirty="0" err="1"/>
              <a:t>компонентів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</a:t>
            </a:r>
            <a:r>
              <a:rPr lang="ru-RU" dirty="0"/>
              <a:t>: </a:t>
            </a:r>
            <a:r>
              <a:rPr lang="ru-RU" dirty="0" err="1"/>
              <a:t>Односторінковий</a:t>
            </a:r>
            <a:r>
              <a:rPr lang="ru-RU" dirty="0"/>
              <a:t> </a:t>
            </a:r>
            <a:r>
              <a:rPr lang="ru-RU" dirty="0" err="1"/>
              <a:t>застосунок</a:t>
            </a:r>
            <a:r>
              <a:rPr lang="ru-RU" dirty="0"/>
              <a:t> (</a:t>
            </a:r>
            <a:r>
              <a:rPr lang="en-US" dirty="0"/>
              <a:t>SPA),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за рендеринг </a:t>
            </a:r>
            <a:r>
              <a:rPr lang="en-US" dirty="0"/>
              <a:t>UI </a:t>
            </a:r>
            <a:r>
              <a:rPr lang="ru-RU" dirty="0"/>
              <a:t>та </a:t>
            </a:r>
            <a:r>
              <a:rPr lang="ru-RU" dirty="0" err="1"/>
              <a:t>асинхронну</a:t>
            </a:r>
            <a:r>
              <a:rPr lang="ru-RU" dirty="0"/>
              <a:t> </a:t>
            </a:r>
            <a:r>
              <a:rPr lang="ru-RU" dirty="0" err="1"/>
              <a:t>взаємодію</a:t>
            </a:r>
            <a:r>
              <a:rPr lang="ru-RU" dirty="0"/>
              <a:t> з сервером.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</a:t>
            </a:r>
            <a:r>
              <a:rPr lang="ru-RU" dirty="0"/>
              <a:t>: Ядро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реалізує</a:t>
            </a:r>
            <a:r>
              <a:rPr lang="ru-RU" dirty="0"/>
              <a:t> </a:t>
            </a:r>
            <a:r>
              <a:rPr lang="ru-RU" dirty="0" err="1"/>
              <a:t>патерни</a:t>
            </a:r>
            <a:r>
              <a:rPr lang="ru-RU" dirty="0"/>
              <a:t> </a:t>
            </a:r>
            <a:r>
              <a:rPr lang="en-US" dirty="0"/>
              <a:t>MVC </a:t>
            </a:r>
            <a:r>
              <a:rPr lang="ru-RU" dirty="0"/>
              <a:t>та </a:t>
            </a:r>
            <a:r>
              <a:rPr lang="en-US" dirty="0"/>
              <a:t>Dependency Injection </a:t>
            </a:r>
            <a:r>
              <a:rPr lang="ru-RU" dirty="0"/>
              <a:t>для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бізнес-логіки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  <a:r>
              <a:rPr lang="ru-RU" dirty="0"/>
              <a:t>: </a:t>
            </a:r>
            <a:r>
              <a:rPr lang="ru-RU" dirty="0" err="1"/>
              <a:t>Реляційне</a:t>
            </a:r>
            <a:r>
              <a:rPr lang="ru-RU" dirty="0"/>
              <a:t> </a:t>
            </a:r>
            <a:r>
              <a:rPr lang="ru-RU" dirty="0" err="1"/>
              <a:t>сховище</a:t>
            </a:r>
            <a:r>
              <a:rPr lang="ru-RU" dirty="0"/>
              <a:t> з </a:t>
            </a:r>
            <a:r>
              <a:rPr lang="ru-RU" dirty="0" err="1"/>
              <a:t>налаштованим</a:t>
            </a:r>
            <a:r>
              <a:rPr lang="ru-RU" dirty="0"/>
              <a:t> </a:t>
            </a:r>
            <a:r>
              <a:rPr lang="ru-RU" dirty="0" err="1"/>
              <a:t>каскадним</a:t>
            </a:r>
            <a:r>
              <a:rPr lang="ru-RU" dirty="0"/>
              <a:t> </a:t>
            </a:r>
            <a:r>
              <a:rPr lang="ru-RU" dirty="0" err="1"/>
              <a:t>видаленням</a:t>
            </a:r>
            <a:r>
              <a:rPr lang="ru-RU" dirty="0"/>
              <a:t> (</a:t>
            </a:r>
            <a:r>
              <a:rPr lang="en-US" dirty="0"/>
              <a:t>Cascade Delete) </a:t>
            </a:r>
            <a:r>
              <a:rPr lang="ru-RU" dirty="0"/>
              <a:t>для </a:t>
            </a:r>
            <a:r>
              <a:rPr lang="ru-RU" dirty="0" err="1"/>
              <a:t>збереження</a:t>
            </a:r>
            <a:r>
              <a:rPr lang="ru-RU" dirty="0"/>
              <a:t> </a:t>
            </a:r>
            <a:r>
              <a:rPr lang="ru-RU" dirty="0" err="1"/>
              <a:t>цілісності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AB2ECD-76AD-481F-B943-E0174790940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485655" y="1789386"/>
            <a:ext cx="3485919" cy="2346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0746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b="1" dirty="0" err="1">
                <a:solidFill>
                  <a:srgbClr val="0D0D0D"/>
                </a:solidFill>
                <a:highlight>
                  <a:srgbClr val="FFFFFF"/>
                </a:highlight>
              </a:rPr>
              <a:t>Опис</a:t>
            </a: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b="1" dirty="0" err="1">
                <a:solidFill>
                  <a:srgbClr val="0D0D0D"/>
                </a:solidFill>
                <a:highlight>
                  <a:srgbClr val="FFFFFF"/>
                </a:highlight>
              </a:rPr>
              <a:t>процесу</a:t>
            </a: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b="1" dirty="0" err="1">
                <a:solidFill>
                  <a:srgbClr val="0D0D0D"/>
                </a:solidFill>
                <a:highlight>
                  <a:srgbClr val="FFFFFF"/>
                </a:highlight>
              </a:rPr>
              <a:t>розробки</a:t>
            </a: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:</a:t>
            </a:r>
            <a:b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Проєктування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UML-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моделей </a:t>
            </a:r>
            <a:r>
              <a:rPr lang="ru-RU" dirty="0"/>
              <a:t>➔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Створення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моделей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даних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C# </a:t>
            </a:r>
            <a:r>
              <a:rPr lang="ru-RU" dirty="0"/>
              <a:t>➔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Генерація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міграцій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EF Core </a:t>
            </a:r>
            <a:r>
              <a:rPr lang="ru-RU" dirty="0"/>
              <a:t>➔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Розробка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контролерів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API </a:t>
            </a:r>
            <a:r>
              <a:rPr lang="ru-RU" dirty="0"/>
              <a:t>➔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Розробка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React-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компонентів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/>
              <a:t>➔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Інтеграція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через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Axios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lang="ru-RU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b="1" dirty="0" err="1">
                <a:solidFill>
                  <a:srgbClr val="0D0D0D"/>
                </a:solidFill>
                <a:highlight>
                  <a:srgbClr val="FFFFFF"/>
                </a:highlight>
              </a:rPr>
              <a:t>Вибрані</a:t>
            </a: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b="1" dirty="0" err="1">
                <a:solidFill>
                  <a:srgbClr val="0D0D0D"/>
                </a:solidFill>
                <a:highlight>
                  <a:srgbClr val="FFFFFF"/>
                </a:highlight>
              </a:rPr>
              <a:t>мови</a:t>
            </a: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b="1" dirty="0" err="1">
                <a:solidFill>
                  <a:srgbClr val="0D0D0D"/>
                </a:solidFill>
                <a:highlight>
                  <a:srgbClr val="FFFFFF"/>
                </a:highlight>
              </a:rPr>
              <a:t>програмування</a:t>
            </a: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 та фреймворки:</a:t>
            </a:r>
            <a:b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-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C# / ASP.NET Core: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Використано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для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побудови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надійного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швидкого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серверного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API,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налаштування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маршрутизації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рольової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авторизації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b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ru-RU" b="1" dirty="0">
                <a:solidFill>
                  <a:srgbClr val="0D0D0D"/>
                </a:solidFill>
                <a:highlight>
                  <a:srgbClr val="FFFFFF"/>
                </a:highlight>
              </a:rPr>
              <a:t>-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JavaScript / React.js: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Використано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для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створення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реактивних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компонентів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інтерфейсу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,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управління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станами (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useState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,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useEffect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) 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маршрутизації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клієнта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68925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b="1" dirty="0" err="1"/>
              <a:t>Методи</a:t>
            </a:r>
            <a:r>
              <a:rPr lang="ru-RU" b="1" dirty="0"/>
              <a:t> та </a:t>
            </a:r>
            <a:r>
              <a:rPr lang="ru-RU" b="1" dirty="0" err="1"/>
              <a:t>Технології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i="1" dirty="0" err="1"/>
              <a:t>Методологія</a:t>
            </a:r>
            <a:r>
              <a:rPr lang="ru-RU" i="1" dirty="0"/>
              <a:t> </a:t>
            </a:r>
            <a:r>
              <a:rPr lang="en-US" i="1" dirty="0"/>
              <a:t>UI/UX:</a:t>
            </a:r>
            <a:r>
              <a:rPr lang="en-US" dirty="0"/>
              <a:t> </a:t>
            </a:r>
            <a:r>
              <a:rPr lang="ru-RU" dirty="0" err="1"/>
              <a:t>Адаптивний</a:t>
            </a:r>
            <a:r>
              <a:rPr lang="ru-RU" dirty="0"/>
              <a:t> дизайн (</a:t>
            </a:r>
            <a:r>
              <a:rPr lang="en-US" dirty="0"/>
              <a:t>Responsive Web Design).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1" dirty="0"/>
              <a:t>Принцип </a:t>
            </a:r>
            <a:r>
              <a:rPr lang="en-US" i="1" dirty="0"/>
              <a:t>Mobile-First:</a:t>
            </a:r>
            <a:r>
              <a:rPr lang="en-US" dirty="0"/>
              <a:t> </a:t>
            </a:r>
            <a:r>
              <a:rPr lang="ru-RU" dirty="0" err="1"/>
              <a:t>Застосовано</a:t>
            </a:r>
            <a:r>
              <a:rPr lang="ru-RU" dirty="0"/>
              <a:t> для </a:t>
            </a:r>
            <a:r>
              <a:rPr lang="ru-RU" dirty="0" err="1"/>
              <a:t>кабінету</a:t>
            </a:r>
            <a:r>
              <a:rPr lang="ru-RU" dirty="0"/>
              <a:t> </a:t>
            </a:r>
            <a:r>
              <a:rPr lang="ru-RU" dirty="0" err="1"/>
              <a:t>Водія</a:t>
            </a:r>
            <a:r>
              <a:rPr lang="ru-RU" dirty="0"/>
              <a:t> (</a:t>
            </a:r>
            <a:r>
              <a:rPr lang="ru-RU" dirty="0" err="1"/>
              <a:t>великі</a:t>
            </a:r>
            <a:r>
              <a:rPr lang="ru-RU" dirty="0"/>
              <a:t> кнопки, </a:t>
            </a:r>
            <a:r>
              <a:rPr lang="ru-RU" dirty="0" err="1"/>
              <a:t>високий</a:t>
            </a:r>
            <a:r>
              <a:rPr lang="ru-RU" dirty="0"/>
              <a:t> контраст) та </a:t>
            </a:r>
            <a:r>
              <a:rPr lang="ru-RU" dirty="0" err="1"/>
              <a:t>Клієнта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1" dirty="0"/>
              <a:t>Принцип </a:t>
            </a:r>
            <a:r>
              <a:rPr lang="en-US" i="1" dirty="0"/>
              <a:t>Desktop-First:</a:t>
            </a:r>
            <a:r>
              <a:rPr lang="en-US" dirty="0"/>
              <a:t> </a:t>
            </a:r>
            <a:r>
              <a:rPr lang="ru-RU" dirty="0" err="1"/>
              <a:t>Застосовано</a:t>
            </a:r>
            <a:r>
              <a:rPr lang="ru-RU" dirty="0"/>
              <a:t> для </a:t>
            </a:r>
            <a:r>
              <a:rPr lang="ru-RU" dirty="0" err="1"/>
              <a:t>дашбордів</a:t>
            </a:r>
            <a:r>
              <a:rPr lang="ru-RU" dirty="0"/>
              <a:t> </a:t>
            </a:r>
            <a:r>
              <a:rPr lang="ru-RU" dirty="0" err="1"/>
              <a:t>Адміністратора</a:t>
            </a:r>
            <a:r>
              <a:rPr lang="ru-RU" dirty="0"/>
              <a:t> (робота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складними</a:t>
            </a:r>
            <a:r>
              <a:rPr lang="ru-RU" dirty="0"/>
              <a:t> </a:t>
            </a:r>
            <a:r>
              <a:rPr lang="ru-RU" dirty="0" err="1"/>
              <a:t>таблицями</a:t>
            </a:r>
            <a:r>
              <a:rPr lang="ru-RU" dirty="0"/>
              <a:t> та статистикою).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185577" y="1005500"/>
            <a:ext cx="3416844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dirty="0" err="1"/>
              <a:t>Ключові</a:t>
            </a:r>
            <a:r>
              <a:rPr lang="ru-RU" sz="1400" dirty="0"/>
              <a:t> </a:t>
            </a:r>
            <a:r>
              <a:rPr lang="ru-RU" sz="1400" dirty="0" err="1"/>
              <a:t>моменти</a:t>
            </a:r>
            <a:r>
              <a:rPr lang="ru-RU" sz="1400" dirty="0"/>
              <a:t> </a:t>
            </a:r>
            <a:r>
              <a:rPr lang="ru-RU" sz="1400" dirty="0" err="1"/>
              <a:t>розробленого</a:t>
            </a:r>
            <a:r>
              <a:rPr lang="ru-RU" sz="1400" dirty="0"/>
              <a:t> ПЗ (</a:t>
            </a:r>
            <a:r>
              <a:rPr lang="en-US" sz="1400" dirty="0"/>
              <a:t>Live-</a:t>
            </a:r>
            <a:r>
              <a:rPr lang="ru-RU" sz="1400" dirty="0" err="1"/>
              <a:t>трекінг</a:t>
            </a:r>
            <a:r>
              <a:rPr lang="ru-RU" sz="1400" dirty="0"/>
              <a:t>):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ru-RU" sz="1400" dirty="0" err="1"/>
              <a:t>Динамічний</a:t>
            </a:r>
            <a:r>
              <a:rPr lang="ru-RU" sz="1400" dirty="0"/>
              <a:t> </a:t>
            </a:r>
            <a:r>
              <a:rPr lang="ru-RU" sz="1400" dirty="0" err="1"/>
              <a:t>розрахунок</a:t>
            </a:r>
            <a:r>
              <a:rPr lang="ru-RU" sz="1400" dirty="0"/>
              <a:t> </a:t>
            </a:r>
            <a:r>
              <a:rPr lang="ru-RU" sz="1400" dirty="0" err="1"/>
              <a:t>затримки</a:t>
            </a:r>
            <a:r>
              <a:rPr lang="ru-RU" sz="1400" dirty="0"/>
              <a:t> (</a:t>
            </a:r>
            <a:r>
              <a:rPr lang="en-US" sz="1400" dirty="0" err="1"/>
              <a:t>DelayMinutes</a:t>
            </a:r>
            <a:r>
              <a:rPr lang="en-US" sz="1400" dirty="0"/>
              <a:t>) </a:t>
            </a:r>
            <a:r>
              <a:rPr lang="ru-RU" sz="1400" dirty="0"/>
              <a:t>на </a:t>
            </a:r>
            <a:r>
              <a:rPr lang="ru-RU" sz="1400" dirty="0" err="1"/>
              <a:t>стороні</a:t>
            </a:r>
            <a:r>
              <a:rPr lang="ru-RU" sz="1400" dirty="0"/>
              <a:t> сервера за </a:t>
            </a:r>
            <a:r>
              <a:rPr lang="ru-RU" sz="1400" dirty="0" err="1"/>
              <a:t>допомогою</a:t>
            </a:r>
            <a:r>
              <a:rPr lang="ru-RU" sz="1400" dirty="0"/>
              <a:t> </a:t>
            </a:r>
            <a:r>
              <a:rPr lang="ru-RU" sz="1400" dirty="0" err="1"/>
              <a:t>структури</a:t>
            </a:r>
            <a:r>
              <a:rPr lang="ru-RU" sz="1400" dirty="0"/>
              <a:t> </a:t>
            </a:r>
            <a:r>
              <a:rPr lang="en-US" sz="1400" dirty="0" err="1"/>
              <a:t>TimeSpan</a:t>
            </a:r>
            <a:r>
              <a:rPr lang="en-US" sz="1400" dirty="0"/>
              <a:t>.</a:t>
            </a:r>
            <a:endParaRPr lang="ru-RU" sz="14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ru-RU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1D19E-33B2-4120-AAFB-2EAD7E4B8FC0}"/>
              </a:ext>
            </a:extLst>
          </p:cNvPr>
          <p:cNvSpPr txBox="1"/>
          <p:nvPr/>
        </p:nvSpPr>
        <p:spPr>
          <a:xfrm>
            <a:off x="3775841" y="712587"/>
            <a:ext cx="5368159" cy="371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TimeSpan.TryParse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stop.ScheduledDeparture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TimeSpan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scheduledTime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DateTime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scheduledFullDateTime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trip.Date.Date.Add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scheduledTime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delay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(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)(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DateTime.Now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scheduledFullDateTime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TotalMinutes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trip.DelayMinutes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delay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&gt; 0 ?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delay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: 0;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trip.CurrentStopOrder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++;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atStopTrips.Remove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tripInstanceId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await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_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context.SaveChangesAsync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000" dirty="0">
              <a:effectLst/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Ok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{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message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"Відправлення зафіксовано!",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currentDelay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uk-UA" sz="1000" b="1" dirty="0" err="1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trip.DelayMinutes</a:t>
            </a:r>
            <a:r>
              <a:rPr lang="uk-UA" sz="1000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});</a:t>
            </a: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ru-RU" sz="1000" b="1" dirty="0"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185578" y="1005500"/>
            <a:ext cx="3022706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dirty="0" err="1"/>
              <a:t>Ключові</a:t>
            </a:r>
            <a:r>
              <a:rPr lang="ru-RU" sz="1400" dirty="0"/>
              <a:t> </a:t>
            </a:r>
            <a:r>
              <a:rPr lang="ru-RU" sz="1400" dirty="0" err="1"/>
              <a:t>моменти</a:t>
            </a:r>
            <a:r>
              <a:rPr lang="ru-RU" sz="1400" dirty="0"/>
              <a:t> </a:t>
            </a:r>
            <a:r>
              <a:rPr lang="ru-RU" sz="1400" dirty="0" err="1"/>
              <a:t>розробленого</a:t>
            </a:r>
            <a:r>
              <a:rPr lang="ru-RU" sz="1400" dirty="0"/>
              <a:t> ПЗ (</a:t>
            </a:r>
            <a:r>
              <a:rPr lang="en-US" sz="1400" dirty="0"/>
              <a:t>Live-</a:t>
            </a:r>
            <a:r>
              <a:rPr lang="ru-RU" sz="1400" dirty="0" err="1"/>
              <a:t>трекінг</a:t>
            </a:r>
            <a:r>
              <a:rPr lang="ru-RU" sz="1400" dirty="0"/>
              <a:t>):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ru-RU" sz="1400" dirty="0" err="1"/>
              <a:t>Клієнтський</a:t>
            </a:r>
            <a:r>
              <a:rPr lang="ru-RU" sz="1400" dirty="0"/>
              <a:t> алгоритм </a:t>
            </a:r>
            <a:r>
              <a:rPr lang="ru-RU" sz="1400" dirty="0" err="1"/>
              <a:t>перерахунку</a:t>
            </a:r>
            <a:r>
              <a:rPr lang="ru-RU" sz="1400" dirty="0"/>
              <a:t> </a:t>
            </a:r>
            <a:r>
              <a:rPr lang="ru-RU" sz="1400" dirty="0" err="1"/>
              <a:t>очікуваного</a:t>
            </a:r>
            <a:r>
              <a:rPr lang="ru-RU" sz="1400" dirty="0"/>
              <a:t> часу </a:t>
            </a:r>
            <a:r>
              <a:rPr lang="ru-RU" sz="1400" dirty="0" err="1"/>
              <a:t>прибуття</a:t>
            </a:r>
            <a:r>
              <a:rPr lang="ru-RU" sz="1400" dirty="0"/>
              <a:t> (</a:t>
            </a:r>
            <a:r>
              <a:rPr lang="en-US" sz="1400" dirty="0"/>
              <a:t>ETA) </a:t>
            </a:r>
            <a:r>
              <a:rPr lang="ru-RU" sz="1400" dirty="0"/>
              <a:t>без </a:t>
            </a:r>
            <a:r>
              <a:rPr lang="ru-RU" sz="1400" dirty="0" err="1"/>
              <a:t>додаткового</a:t>
            </a:r>
            <a:r>
              <a:rPr lang="ru-RU" sz="1400" dirty="0"/>
              <a:t> </a:t>
            </a:r>
            <a:r>
              <a:rPr lang="ru-RU" sz="1400" dirty="0" err="1"/>
              <a:t>навантаження</a:t>
            </a:r>
            <a:r>
              <a:rPr lang="ru-RU" sz="1400" dirty="0"/>
              <a:t> на </a:t>
            </a:r>
            <a:r>
              <a:rPr lang="en-US" sz="1400" dirty="0"/>
              <a:t>API.</a:t>
            </a:r>
            <a:endParaRPr lang="ru-RU" sz="14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ru-RU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F8EB08D-9356-4987-A0EB-594D3BD5193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91175" y="754463"/>
            <a:ext cx="5367247" cy="360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67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E48CA7-F042-4900-8249-40700F6B78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51"/>
          <a:stretch/>
        </p:blipFill>
        <p:spPr>
          <a:xfrm>
            <a:off x="4777148" y="594154"/>
            <a:ext cx="4152719" cy="187611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FA77ED-0DD8-41B6-B935-7B78748E4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81" y="2693986"/>
            <a:ext cx="4088633" cy="18761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F7BA881-9E2E-471D-A73B-8F83D43BD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75" y="594154"/>
            <a:ext cx="3703140" cy="1696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8477205-F593-4055-BCA3-105774F473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458" y="2416402"/>
            <a:ext cx="4230939" cy="19430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796013"/>
            <a:ext cx="8520600" cy="3783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ru-RU" b="1" dirty="0" err="1"/>
              <a:t>Реалістичність</a:t>
            </a:r>
            <a:r>
              <a:rPr lang="ru-RU" b="1" dirty="0"/>
              <a:t> та </a:t>
            </a:r>
            <a:r>
              <a:rPr lang="ru-RU" b="1" dirty="0" err="1"/>
              <a:t>корисність</a:t>
            </a:r>
            <a:r>
              <a:rPr lang="ru-RU" b="1" dirty="0"/>
              <a:t> </a:t>
            </a:r>
            <a:r>
              <a:rPr lang="ru-RU" b="1" dirty="0" err="1"/>
              <a:t>отриманих</a:t>
            </a:r>
            <a:r>
              <a:rPr lang="ru-RU" b="1" dirty="0"/>
              <a:t> </a:t>
            </a:r>
            <a:r>
              <a:rPr lang="ru-RU" b="1" dirty="0" err="1"/>
              <a:t>результатів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Створено </a:t>
            </a:r>
            <a:r>
              <a:rPr lang="ru-RU" dirty="0" err="1"/>
              <a:t>повністю</a:t>
            </a:r>
            <a:r>
              <a:rPr lang="ru-RU" dirty="0"/>
              <a:t> </a:t>
            </a:r>
            <a:r>
              <a:rPr lang="ru-RU" dirty="0" err="1"/>
              <a:t>працездатну</a:t>
            </a:r>
            <a:r>
              <a:rPr lang="ru-RU" dirty="0"/>
              <a:t> </a:t>
            </a:r>
            <a:r>
              <a:rPr lang="uk-UA" dirty="0" err="1"/>
              <a:t>SaaS</a:t>
            </a:r>
            <a:r>
              <a:rPr lang="uk-UA" dirty="0"/>
              <a:t>-платформу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Успішна програмна реалізація багаторівневої рольової моделі та інноваційної підсистеми </a:t>
            </a:r>
            <a:r>
              <a:rPr lang="uk-UA" dirty="0" err="1"/>
              <a:t>Live-трекінгу</a:t>
            </a:r>
            <a:r>
              <a:rPr lang="uk-UA" dirty="0"/>
              <a:t>.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Система </a:t>
            </a:r>
            <a:r>
              <a:rPr lang="ru-RU" dirty="0" err="1"/>
              <a:t>оптимізує</a:t>
            </a:r>
            <a:r>
              <a:rPr lang="ru-RU" dirty="0"/>
              <a:t> роботу </a:t>
            </a:r>
            <a:r>
              <a:rPr lang="ru-RU" dirty="0" err="1"/>
              <a:t>диспетчерів</a:t>
            </a:r>
            <a:r>
              <a:rPr lang="ru-RU" dirty="0"/>
              <a:t> та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пасажирам</a:t>
            </a:r>
            <a:r>
              <a:rPr lang="ru-RU" dirty="0"/>
              <a:t> </a:t>
            </a:r>
            <a:r>
              <a:rPr lang="ru-RU" dirty="0" err="1"/>
              <a:t>сучасний</a:t>
            </a:r>
            <a:r>
              <a:rPr lang="ru-RU" dirty="0"/>
              <a:t> </a:t>
            </a:r>
            <a:r>
              <a:rPr lang="ru-RU" dirty="0" err="1"/>
              <a:t>інструмент</a:t>
            </a:r>
            <a:r>
              <a:rPr lang="ru-RU" dirty="0"/>
              <a:t> </a:t>
            </a:r>
            <a:r>
              <a:rPr lang="ru-RU" dirty="0" err="1"/>
              <a:t>моніторингу</a:t>
            </a:r>
            <a:r>
              <a:rPr lang="ru-RU" dirty="0"/>
              <a:t> </a:t>
            </a:r>
            <a:r>
              <a:rPr lang="ru-RU" dirty="0" err="1"/>
              <a:t>рейсів</a:t>
            </a:r>
            <a:r>
              <a:rPr lang="ru-RU" dirty="0"/>
              <a:t>.</a:t>
            </a:r>
          </a:p>
          <a:p>
            <a:pPr marL="114300" indent="0">
              <a:buNone/>
            </a:pPr>
            <a:endParaRPr lang="ru-RU" b="1" dirty="0"/>
          </a:p>
          <a:p>
            <a:pPr marL="114300" indent="0">
              <a:buNone/>
            </a:pPr>
            <a:r>
              <a:rPr lang="ru-RU" b="1" dirty="0" err="1"/>
              <a:t>Можливості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Приватні</a:t>
            </a:r>
            <a:r>
              <a:rPr lang="ru-RU" dirty="0"/>
              <a:t> автопарки для </a:t>
            </a:r>
            <a:r>
              <a:rPr lang="ru-RU" dirty="0" err="1"/>
              <a:t>перевезень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Локальні</a:t>
            </a:r>
            <a:r>
              <a:rPr lang="ru-RU" dirty="0"/>
              <a:t> </a:t>
            </a:r>
            <a:r>
              <a:rPr lang="ru-RU" dirty="0" err="1"/>
              <a:t>туристичні</a:t>
            </a:r>
            <a:r>
              <a:rPr lang="ru-RU" dirty="0"/>
              <a:t> </a:t>
            </a:r>
            <a:r>
              <a:rPr lang="ru-RU" dirty="0" err="1"/>
              <a:t>компанії</a:t>
            </a:r>
            <a:r>
              <a:rPr lang="ru-RU" dirty="0"/>
              <a:t> та </a:t>
            </a:r>
            <a:r>
              <a:rPr lang="ru-RU" dirty="0" err="1"/>
              <a:t>корпоративні</a:t>
            </a:r>
            <a:r>
              <a:rPr lang="ru-RU" dirty="0"/>
              <a:t> </a:t>
            </a:r>
            <a:r>
              <a:rPr lang="ru-RU" dirty="0" err="1"/>
              <a:t>трансфери</a:t>
            </a:r>
            <a:r>
              <a:rPr lang="ru-RU" dirty="0"/>
              <a:t>.</a:t>
            </a:r>
          </a:p>
          <a:p>
            <a:pPr marL="114300" indent="0">
              <a:buNone/>
            </a:pPr>
            <a:endParaRPr lang="ru-RU" b="1" dirty="0"/>
          </a:p>
          <a:p>
            <a:pPr marL="114300" indent="0">
              <a:buNone/>
            </a:pPr>
            <a:r>
              <a:rPr lang="ru-RU" b="1" dirty="0" err="1"/>
              <a:t>Можливий</a:t>
            </a:r>
            <a:r>
              <a:rPr lang="ru-RU" b="1" dirty="0"/>
              <a:t> </a:t>
            </a:r>
            <a:r>
              <a:rPr lang="ru-RU" b="1" dirty="0" err="1"/>
              <a:t>розвиток</a:t>
            </a:r>
            <a:r>
              <a:rPr lang="ru-RU" b="1" dirty="0"/>
              <a:t> </a:t>
            </a:r>
            <a:r>
              <a:rPr lang="ru-RU" b="1" dirty="0" err="1"/>
              <a:t>програмного</a:t>
            </a:r>
            <a:r>
              <a:rPr lang="ru-RU" b="1" dirty="0"/>
              <a:t> </a:t>
            </a:r>
            <a:r>
              <a:rPr lang="ru-RU" b="1" dirty="0" err="1"/>
              <a:t>забезпечення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Міграція</a:t>
            </a:r>
            <a:r>
              <a:rPr lang="ru-RU" dirty="0"/>
              <a:t>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з </a:t>
            </a:r>
            <a:r>
              <a:rPr lang="en-US" dirty="0"/>
              <a:t>SQLite </a:t>
            </a:r>
            <a:r>
              <a:rPr lang="ru-RU" dirty="0"/>
              <a:t>на </a:t>
            </a:r>
            <a:r>
              <a:rPr lang="en-US" dirty="0"/>
              <a:t>PostgreSQL </a:t>
            </a:r>
            <a:r>
              <a:rPr lang="ru-RU" dirty="0"/>
              <a:t>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en-US" dirty="0"/>
              <a:t>High-Load </a:t>
            </a:r>
            <a:r>
              <a:rPr lang="ru-RU" dirty="0" err="1"/>
              <a:t>стійкості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Інтеграція</a:t>
            </a:r>
            <a:r>
              <a:rPr lang="ru-RU" dirty="0"/>
              <a:t> </a:t>
            </a:r>
            <a:r>
              <a:rPr lang="ru-RU" dirty="0" err="1"/>
              <a:t>платіжних</a:t>
            </a:r>
            <a:r>
              <a:rPr lang="ru-RU" dirty="0"/>
              <a:t> </a:t>
            </a:r>
            <a:r>
              <a:rPr lang="ru-RU" dirty="0" err="1"/>
              <a:t>шлюзів</a:t>
            </a:r>
            <a:r>
              <a:rPr lang="ru-RU" dirty="0"/>
              <a:t> (</a:t>
            </a:r>
            <a:r>
              <a:rPr lang="en-US" dirty="0" err="1"/>
              <a:t>LiqPay</a:t>
            </a:r>
            <a:r>
              <a:rPr lang="en-US" dirty="0"/>
              <a:t> / Stripe) </a:t>
            </a:r>
            <a:r>
              <a:rPr lang="ru-RU" dirty="0"/>
              <a:t>для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фінансових</a:t>
            </a:r>
            <a:r>
              <a:rPr lang="ru-RU" dirty="0"/>
              <a:t> </a:t>
            </a:r>
            <a:r>
              <a:rPr lang="ru-RU" dirty="0" err="1"/>
              <a:t>транзакцій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Впровадження системи сповіщень </a:t>
            </a:r>
            <a:r>
              <a:rPr lang="ru-RU" dirty="0"/>
              <a:t>для автоматичного </a:t>
            </a:r>
            <a:r>
              <a:rPr lang="uk-UA" dirty="0" err="1"/>
              <a:t>інформува</a:t>
            </a:r>
            <a:r>
              <a:rPr lang="ru-RU" dirty="0" err="1"/>
              <a:t>ння</a:t>
            </a:r>
            <a:r>
              <a:rPr lang="ru-RU" dirty="0"/>
              <a:t> </a:t>
            </a:r>
            <a:r>
              <a:rPr lang="ru-RU" dirty="0" err="1"/>
              <a:t>пасажирів</a:t>
            </a:r>
            <a:r>
              <a:rPr lang="ru-RU" dirty="0"/>
              <a:t> про </a:t>
            </a:r>
            <a:r>
              <a:rPr lang="ru-RU" dirty="0" err="1"/>
              <a:t>затримку</a:t>
            </a:r>
            <a:r>
              <a:rPr lang="ru-RU" dirty="0"/>
              <a:t> рейсу.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1652</TotalTime>
  <Words>899</Words>
  <Application>Microsoft Office PowerPoint</Application>
  <PresentationFormat>Экран (16:9)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Open Sans</vt:lpstr>
      <vt:lpstr>Calibri</vt:lpstr>
      <vt:lpstr>Economica</vt:lpstr>
      <vt:lpstr>Courier New</vt:lpstr>
      <vt:lpstr>Arial</vt:lpstr>
      <vt:lpstr>Шаблон презентації кваліфікаційної роботи магістрів</vt:lpstr>
      <vt:lpstr>Програмна система автоматизації процесів управління автотранспортного підприємства </vt:lpstr>
      <vt:lpstr>Мета роботи</vt:lpstr>
      <vt:lpstr>Аналіз проблеми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Інтерфейс користувача 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автоматизації процесів управління автотранспортного підприємства </dc:title>
  <dc:creator>Марина Беликова</dc:creator>
  <cp:lastModifiedBy>Марина Беликова</cp:lastModifiedBy>
  <cp:revision>16</cp:revision>
  <dcterms:created xsi:type="dcterms:W3CDTF">2026-05-17T17:59:48Z</dcterms:created>
  <dcterms:modified xsi:type="dcterms:W3CDTF">2026-05-30T15:41:43Z</dcterms:modified>
</cp:coreProperties>
</file>